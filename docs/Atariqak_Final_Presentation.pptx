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90007" y="731520"/>
            <a:ext cx="2011680" cy="2011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08" y="972921"/>
            <a:ext cx="1528878" cy="15288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2880360"/>
            <a:ext cx="94457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  <a:cs typeface="Segoe UI"/>
              </a:rPr>
              <a:t>عطريقك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77639"/>
            <a:ext cx="9445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0">
                <a:solidFill>
                  <a:srgbClr val="ED8B10"/>
                </a:solidFill>
                <a:latin typeface="Segoe UI"/>
                <a:cs typeface="Segoe UI"/>
              </a:rPr>
              <a:t>منصة مشاركة الرحلات بين المدن ‏—‏ مقعد فارغ لواحد، وصول أوفر للجميع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457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  <a:cs typeface="Segoe UI"/>
              </a:rPr>
              <a:t>مناقشة مشروع التخرج ‏—‏ العرض النهائي</a:t>
            </a:r>
          </a:p>
          <a:p>
            <a:pPr algn="ctr" rtl="1">
              <a:spcAft>
                <a:spcPts val="600"/>
              </a:spcAft>
            </a:pPr>
            <a:r>
              <a:rPr sz="1300" b="0">
                <a:solidFill>
                  <a:srgbClr val="5FBBC8"/>
                </a:solidFill>
                <a:latin typeface="Segoe UI"/>
                <a:cs typeface="Segoe UI"/>
              </a:rPr>
              <a:t>تطبيق ‎Flutter‏  •  واجهة ‎Laravel API‏  •  لوحة إدارة ويب</a:t>
            </a:r>
          </a:p>
          <a:p>
            <a:pPr algn="ct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  <a:cs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المشكلة ‏—‏ التنقل بين المدن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لماذا يحتاج السوق حلاً؟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تكلفة مرتفعة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التاكسي الخاص بين المدن مكلف جداً لفرد واحد، والنقل الجماعي غير مرن في المواعيد والمسارات</a:t>
            </a:r>
          </a:p>
          <a:p>
            <a:pPr algn="r" rtl="1">
              <a:spcAft>
                <a:spcPts val="14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مقاعد فارغة مهدورة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آلاف السيارات تتحرك يومياً بين المدن وفيها 3 مقاعد فارغة ‏—‏ طاقة نقل ضائعة</a:t>
            </a:r>
          </a:p>
          <a:p>
            <a:pPr algn="r" rtl="1">
              <a:spcAft>
                <a:spcPts val="14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انعدام الثقة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التشارك الحالي يتم عبر مجموعات فيسبوك/واتساب: لا توثيق للهوية، لا تقييمات، لا ضمانات</a:t>
            </a:r>
          </a:p>
          <a:p>
            <a:pPr algn="r" rtl="1">
              <a:spcAft>
                <a:spcPts val="14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لا ضمانات مالية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الدفع نقدي بلا إثبات، الإلغاءات المتأخرة بلا تعويض، والخلافات بلا جهة تحكيم</a:t>
            </a:r>
          </a:p>
          <a:p>
            <a:pPr algn="r" rtl="1">
              <a:spcAft>
                <a:spcPts val="14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غياب السلامة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لا سجل للسائق أو مركبته، ولا آلية للإبلاغ أو تتبع الرحلة أو مشاركة تفاصيلها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الحل ‏—‏ عطريقك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منصة موثوقة تحول المقاعد الفارغة إلى شبكة نقل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سائق موثّق ينشر رحلته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هوية + رخصة + وثيقة مركبة تراجعها الإدارة قبل أول رحلة ‎(BR-01)‏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راكب يبحث ويحجز بثقة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بحث جغرافي بالإحداثيات والتاريخ وعدد المقاعد، مع ملف كامل للسائق وتقييماته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دفع إلكتروني عبر محفظة داخلية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خصم آمن عند الحجز، واسترداد عادل متدرج عند الإلغاء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منظومة ثقة متكاملة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نقاط ثقة سلوكية، تقييمات وتعليقات، بلاغات عدم حضور، وحظر للمخالفين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347472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32504" y="4892040"/>
            <a:ext cx="82296" cy="10972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646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للراكب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2180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وصول أرخص وأسرع بمرونة مواعيد حقيقية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4754880"/>
            <a:ext cx="347472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1543" y="4892040"/>
            <a:ext cx="82296" cy="10972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48646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للسائق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532180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تغطية تكاليف الرحلة من مقاعد كانت ستبقى فارغة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4754880"/>
            <a:ext cx="3474720" cy="1371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0582" y="4892040"/>
            <a:ext cx="82296" cy="10972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48646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للمجتمع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532180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ازدحام أقل، استهلاك وقود أقل، شبكة معارف أوسع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2</a:t>
            </a:r>
          </a:p>
        </p:txBody>
      </p:sp>
      <p:pic>
        <p:nvPicPr>
          <p:cNvPr id="22" name="Picture 21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لماذا يختار المستخدم عطريقك؟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مقارنة مباشرة مع البدائل المتاحة فعلياً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926080"/>
                <a:gridCol w="2194560"/>
                <a:gridCol w="2926080"/>
              </a:tblGrid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عطريقك</a:t>
                      </a:r>
                    </a:p>
                  </a:txBody>
                  <a:tcPr anchor="ctr">
                    <a:solidFill>
                      <a:srgbClr val="253C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تاكسي خاص</a:t>
                      </a:r>
                    </a:p>
                  </a:txBody>
                  <a:tcPr anchor="ctr">
                    <a:solidFill>
                      <a:srgbClr val="253C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مجموعات فيسبوك/واتساب</a:t>
                      </a:r>
                    </a:p>
                  </a:txBody>
                  <a:tcPr anchor="ctr">
                    <a:solidFill>
                      <a:srgbClr val="253C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المعيار</a:t>
                      </a:r>
                    </a:p>
                  </a:txBody>
                  <a:tcPr anchor="ctr">
                    <a:solidFill>
                      <a:srgbClr val="253C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إلزامي قبل أول رحلة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غير معياري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لا يوجد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توثيق هوية السائق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سعر معلن ثابت للمقعد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مرتفع جداً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متفاوت وغير ملزم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السعر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حجز مؤكد بخصم من المحفظة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حسب المكتب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وعود شفهية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ضمان الحجز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استرداد متدرج حسب التوقيت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لا سياسة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خسارة كاملة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الإلغاء والاسترداد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نقاط ثقة + تقييمات + حظر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لا يوجد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لا يوجد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التقييم والمحاسبة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شات داخل التطبيق + إشعارات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هاتف فقط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أرقام مكشوفة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التواصل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3</a:t>
            </a:r>
          </a:p>
        </p:txBody>
      </p:sp>
      <p:pic>
        <p:nvPicPr>
          <p:cNvPr id="10" name="Picture 9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بنية النظام ‏—‏ ثلاثة مكونات متكاملة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32504" y="1874520"/>
            <a:ext cx="82296" cy="20116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تطبيق الجوال ‏—‏ ‎Flutter‏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3063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واجهة الراكب والسائق: بحث، حجز، إنشاء رحلات، محفظة، شات، إشعارات ‏—‏ عربي ‎RTL‏ مع وضع داكن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737360"/>
            <a:ext cx="347472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1543" y="1874520"/>
            <a:ext cx="82296" cy="201168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الخادم ‏—‏ ‎Laravel REST API‏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304288"/>
            <a:ext cx="3063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منطق الأعمال وقواعده، ‎JWT‏ + ‎Refresh‏، ‎MySQL‏، بث فوري عبر ‎WebSockets‏، معالجة المدفوعات والاسترداد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8" y="1737360"/>
            <a:ext cx="347472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30582" y="1874520"/>
            <a:ext cx="82296" cy="2011680"/>
          </a:xfrm>
          <a:prstGeom prst="rect">
            <a:avLst/>
          </a:prstGeom>
          <a:solidFill>
            <a:srgbClr val="5F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8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لوحة الإدارة ‏—‏ ويب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2304288"/>
            <a:ext cx="3063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مراجعة طلبات التوثيق، إدارة طلبات شحن/سحب المحفظة، الشكاوى والدعم، مراقبة المستخدمين والحظر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343400"/>
            <a:ext cx="8138160" cy="3175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تكامل خارجي: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505A63"/>
                </a:solidFill>
                <a:latin typeface="Segoe UI"/>
                <a:cs typeface="Segoe UI"/>
              </a:rPr>
              <a:t>خرائط ‎OpenStreetMap‏ + ‎MapTiler‏  •  مسارات ‎GraphHopper‏ / ‎OpenRouteService‏  •  إشعارات ‎Firebase Cloud Messaging‏  •  بث ‎Pusher Protocol‏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4</a:t>
            </a:r>
          </a:p>
        </p:txBody>
      </p:sp>
      <p:pic>
        <p:nvPicPr>
          <p:cNvPr id="22" name="Picture 21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لماذا هذه التقنيات؟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كل اختيار له مبرر هندسي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‎Flutter‏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قاعدة كود واحدة لـ ‎Android‏ و ‎iOS‏ بأداء أصلي ‏—‏ فريق صغير يغطي منصتين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‎Cubit‏ ‎(flutter_bloc)‏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فصل كامل بين الواجهة ومنطق الأعمال + قابلية اختبار عالية (أثبتناها بـ 105 اختبارات)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‎Laravel‏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إطار ناضج بنظام صلاحيات و‎Middleware‏ جاهز، يسرّع بناء ‎REST API‏ آمن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‎MySQL‏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بيانات علائقية بطبيعتها (مستخدم/رحلة/حجز/محفظة) مع معاملات ‎ACID‏ للعمليات المالية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‎Hive‏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تخزين محلي سريع بلا ‎SQL‏ للكاش والجلسة ‏—‏ مع تشفير ‎AES-256‏ لصندوق الجلسة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‎Dio‏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عميل ‎HTTP‏ قابل للتوسعة بـ ‎Interceptors‏: توكن تلقائي، تجديد جلسة، إعادة محاولة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‎OpenStreetMap‏ بدل ‎Google Maps‏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مجاني بلا مفاتيح فوترة، وكافٍ تماماً لاختيار المواقع والمسارات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5</a:t>
            </a:r>
          </a:p>
        </p:txBody>
      </p:sp>
      <p:pic>
        <p:nvPicPr>
          <p:cNvPr id="10" name="Picture 9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معمارية التطبيق ‏—‏ ‎Clean Architecture‏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‎NFR-24‏: فصل الطبقات وقابلية الصيانة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6309360" cy="10058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737360"/>
            <a:ext cx="109728" cy="82296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719072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‎Presentation‏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2140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505A63"/>
                </a:solidFill>
                <a:latin typeface="Segoe UI"/>
                <a:cs typeface="Segoe UI"/>
              </a:rPr>
              <a:t>الشاشات + ‎Cubits‏ ‏—‏ تستهلك حالات وتعرضها، لا تعرف شيئاً عن الشبكة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880360"/>
            <a:ext cx="6309360" cy="10058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971800"/>
            <a:ext cx="109728" cy="82296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53512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‎Domain‏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5584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505A63"/>
                </a:solidFill>
                <a:latin typeface="Segoe UI"/>
                <a:cs typeface="Segoe UI"/>
              </a:rPr>
              <a:t>الكيانات وعقود الـ ‎Repositories‏ ‏—‏ قلب منطق الأعمال المستقل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114800"/>
            <a:ext cx="6309360" cy="10058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4206240"/>
            <a:ext cx="109728" cy="82296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187952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‎Data‏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9028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505A63"/>
                </a:solidFill>
                <a:latin typeface="Segoe UI"/>
                <a:cs typeface="Segoe UI"/>
              </a:rPr>
              <a:t>‎Repositories‏ + ‎Data Sources‏ + ‎Models‏ ‏—‏ ‎Dio‏ للشبكة و ‎Hive‏ للتخزين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القاعدة الذهبية:  </a:t>
            </a:r>
            <a:r>
              <a:rPr sz="1350" b="0">
                <a:solidFill>
                  <a:srgbClr val="505A63"/>
                </a:solidFill>
                <a:latin typeface="Segoe UI"/>
                <a:cs typeface="Segoe UI"/>
              </a:rPr>
              <a:t>الاعتماديات تتجه للداخل فقط ‏—‏ تغيير مكتبة الشبكة أو التخزين لا يلمس منطق الأعمال أو الشاشات. حقن التبعيات عبر ‎GetIt‏، وإدارة الحالة عبر ‎Cubit‏ مع كل تدفق يمر بحالات ‎Loading‏ / ‎Success‏ / ‎Error.‏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6</a:t>
            </a:r>
          </a:p>
        </p:txBody>
      </p:sp>
      <p:pic>
        <p:nvPicPr>
          <p:cNvPr id="22" name="Picture 21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رحلة الراكب ‏—‏ من البحث إلى التقييم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32504" y="1874520"/>
            <a:ext cx="82296" cy="15544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53C5B"/>
                </a:solidFill>
                <a:latin typeface="Segoe UI"/>
                <a:cs typeface="Segoe UI"/>
              </a:rPr>
              <a:t>1. بحث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إحداثيات انطلاق ووجهة + تاريخ + مقاعد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737360"/>
            <a:ext cx="34747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1543" y="1874520"/>
            <a:ext cx="82296" cy="15544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53C5B"/>
                </a:solidFill>
                <a:latin typeface="Segoe UI"/>
                <a:cs typeface="Segoe UI"/>
              </a:rPr>
              <a:t>2. اختيار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30428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ملف السائق، تقييمه، سعر المقعد، نوع المركبة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8" y="1737360"/>
            <a:ext cx="34747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30582" y="1874520"/>
            <a:ext cx="82296" cy="15544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8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53C5B"/>
                </a:solidFill>
                <a:latin typeface="Segoe UI"/>
                <a:cs typeface="Segoe UI"/>
              </a:rPr>
              <a:t>3. حجز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230428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فوري أو بطلب موافقة ‏—‏ خصم آمن من المحفظة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34747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32504" y="3977640"/>
            <a:ext cx="82296" cy="15544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502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53C5B"/>
                </a:solidFill>
                <a:latin typeface="Segoe UI"/>
                <a:cs typeface="Segoe UI"/>
              </a:rPr>
              <a:t>4. تواصل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0740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شات فوري مع السائق + إشعارات لحظية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3840480"/>
            <a:ext cx="34747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81543" y="3977640"/>
            <a:ext cx="82296" cy="15544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39502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53C5B"/>
                </a:solidFill>
                <a:latin typeface="Segoe UI"/>
                <a:cs typeface="Segoe UI"/>
              </a:rPr>
              <a:t>5. الرحلة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40740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تأكيد ثنائي للإنهاء (سائق ثم راكب)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8" y="3840480"/>
            <a:ext cx="34747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30582" y="3977640"/>
            <a:ext cx="82296" cy="155448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8" y="39502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53C5B"/>
                </a:solidFill>
                <a:latin typeface="Segoe UI"/>
                <a:cs typeface="Segoe UI"/>
              </a:rPr>
              <a:t>6. تقييم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440740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نجوم + تعليق يبنيان سمعة الطرفين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53C5B"/>
                </a:solidFill>
                <a:latin typeface="Segoe UI"/>
                <a:cs typeface="Segoe UI"/>
              </a:rPr>
              <a:t>حماية الراكب:  </a:t>
            </a: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إلغاء باسترداد متدرج، بلاغ «السائق لم يحضر» باسترداد كامل، وزر دعم مباشر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7</a:t>
            </a:r>
          </a:p>
        </p:txBody>
      </p:sp>
      <p:pic>
        <p:nvPicPr>
          <p:cNvPr id="33" name="Picture 32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رحلة السائق ‏—‏ إنشاء الرحلة بمعالج ذكي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920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32504" y="1874520"/>
            <a:ext cx="82296" cy="164592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50" b="1">
                <a:solidFill>
                  <a:srgbClr val="253C5B"/>
                </a:solidFill>
                <a:latin typeface="Segoe UI"/>
                <a:cs typeface="Segoe UI"/>
              </a:rPr>
              <a:t>التوثيق أولاً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لا نشر رحلات قبل قبول الإدارة للهوية والرخصة ووثيقة المركبة ‎(BR-01)‏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737360"/>
            <a:ext cx="3474720" cy="1920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1543" y="1874520"/>
            <a:ext cx="82296" cy="164592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50" b="1">
                <a:solidFill>
                  <a:srgbClr val="253C5B"/>
                </a:solidFill>
                <a:latin typeface="Segoe UI"/>
                <a:cs typeface="Segoe UI"/>
              </a:rPr>
              <a:t>تحديد المواقع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30428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اختيار الانطلاق والوجهة من الخريطة مباشرة أو بالبحث الجغرافي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8" y="1737360"/>
            <a:ext cx="3474720" cy="1920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30582" y="1874520"/>
            <a:ext cx="82296" cy="164592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8" y="18470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50" b="1">
                <a:solidFill>
                  <a:srgbClr val="253C5B"/>
                </a:solidFill>
                <a:latin typeface="Segoe UI"/>
                <a:cs typeface="Segoe UI"/>
              </a:rPr>
              <a:t>مسارات بديلة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230428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حساب عدة مسارات فعلية (مسافة وزمن) واختيار الأنسب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474720" cy="1920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32504" y="4069080"/>
            <a:ext cx="82296" cy="164592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50" b="1">
                <a:solidFill>
                  <a:srgbClr val="253C5B"/>
                </a:solidFill>
                <a:latin typeface="Segoe UI"/>
                <a:cs typeface="Segoe UI"/>
              </a:rPr>
              <a:t>التفاصيل والتسعير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9884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مقاعد (بحد أقصى 4 ‏—‏ ‎BR-02‏)، سعر المقعد، نوع الحجز، موعد الانطلاق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3931920"/>
            <a:ext cx="3474720" cy="1920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81543" y="4069080"/>
            <a:ext cx="82296" cy="164592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404164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50" b="1">
                <a:solidFill>
                  <a:srgbClr val="253C5B"/>
                </a:solidFill>
                <a:latin typeface="Segoe UI"/>
                <a:cs typeface="Segoe UI"/>
              </a:rPr>
              <a:t>منع التعارض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49884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النظام يرفض رحلتين متداخلتين زمنياً لنفس السائق ‎(BR-03)‏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8" y="3931920"/>
            <a:ext cx="3474720" cy="1920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30582" y="4069080"/>
            <a:ext cx="82296" cy="164592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8" y="404164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50" b="1">
                <a:solidFill>
                  <a:srgbClr val="253C5B"/>
                </a:solidFill>
                <a:latin typeface="Segoe UI"/>
                <a:cs typeface="Segoe UI"/>
              </a:rPr>
              <a:t>إدارة الركاب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449884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قبول/رفض طلبات الحجز، بلاغ عدم حضور راكب، إنهاء وتأكيد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8</a:t>
            </a:r>
          </a:p>
        </p:txBody>
      </p:sp>
      <p:pic>
        <p:nvPicPr>
          <p:cNvPr id="32" name="Picture 31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المصادقة وإدارة الجلسات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‎NFR-10‏ + ‎NFR-14‏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تسجيل بتحقق ‎OTP‏ عبر البريد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الحساب لا يُفعّل قبل إدخال رمز 6 أرقام ‏—‏ مع مؤقت إعادة إرسال وحد محاولات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‎JWT‏ + ‎Refresh Token‏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جلسات بلا حالة على الخادم؛ ‎access‏ قصير العمر و ‎refresh‏ لتجديد صامت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تجديد تلقائي شفاف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‎Interceptor‏ يلتقط 401، يجدد التوكن، ويعيد الطلب الأصلي دون أن يشعر المستخدم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أكواد جلسة مصنفة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‎TOKEN_INVALID‏ يجدد، ‎TOKEN_INVALIDATED/USER_INACTIVE‏ خروج فوري، ‎USER_BANNED‏ شاشة حظر بالتفاصيل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تخزين مشفر ‎AES-256‏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التوكنات في صندوق ‎Hive‏ مشفر بمفتاح داخل ‎Android Keystore‏ / ‎iOS Keychain‏ ‏—‏ ليست في ‎SharedPreferences‏ إطلاقاً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استعادة كلمة المرور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بريد ← ‎OTP‏ ← رمز إعادة تعيين لمرة واحدة بصلاحية محدودة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9</a:t>
            </a:r>
          </a:p>
        </p:txBody>
      </p:sp>
      <p:pic>
        <p:nvPicPr>
          <p:cNvPr id="10" name="Picture 9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المحفظة والمدفوعات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عمليات مالية آمنة داخل المنصة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تفعيل بمصادقة مزدوجة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إنشاء المحفظة يتطلب كلمة المرور + ‎OTP‏ على رقم الهاتف</a:t>
            </a:r>
          </a:p>
          <a:p>
            <a:pPr algn="r" rtl="1">
              <a:spcAft>
                <a:spcPts val="9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شحن وسحب بطلبات مُدارة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الطلب يُراجع من الإدارة عبر لوحة الويب ثم يُقيد في الرصيد</a:t>
            </a:r>
          </a:p>
          <a:p>
            <a:pPr algn="r" rtl="1">
              <a:spcAft>
                <a:spcPts val="9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خصم عند الحجز لحظياً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ولا يكتمل أي خصم إلا بعد استجابة الخادم ‎(SAF-04)‏ ‏—‏ مع مفتاح ‎idempotency‏ يمنع التكرار</a:t>
            </a:r>
          </a:p>
          <a:p>
            <a:pPr algn="r" rtl="1">
              <a:spcAft>
                <a:spcPts val="9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استرداد متدرج عادل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نسبة الاسترداد تتناقص كلما اقترب موعد الانطلاق ‏—‏ توازن بين حق الراكب وضرر السائق</a:t>
            </a:r>
          </a:p>
          <a:p>
            <a:pPr algn="r" rtl="1">
              <a:spcAft>
                <a:spcPts val="9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استرداد كامل تلقائي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عند إلغاء السائق أو ثبوت عدم حضوره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3474720" cy="14173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32504" y="5029200"/>
            <a:ext cx="82296" cy="11430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017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53C5B"/>
                </a:solidFill>
                <a:latin typeface="Segoe UI"/>
                <a:cs typeface="Segoe UI"/>
              </a:rPr>
              <a:t>سجل معاملات 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5896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505A63"/>
                </a:solidFill>
                <a:latin typeface="Segoe UI"/>
                <a:cs typeface="Segoe UI"/>
              </a:rPr>
              <a:t>كل حركة (شحن/خصم/استرداد) مؤرخة وقابلة للمراجعة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4892040"/>
            <a:ext cx="3474720" cy="14173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1543" y="5029200"/>
            <a:ext cx="82296" cy="11430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50017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53C5B"/>
                </a:solidFill>
                <a:latin typeface="Segoe UI"/>
                <a:cs typeface="Segoe UI"/>
              </a:rPr>
              <a:t>حدود وحماية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545896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505A63"/>
                </a:solidFill>
                <a:latin typeface="Segoe UI"/>
                <a:cs typeface="Segoe UI"/>
              </a:rPr>
              <a:t>حد أقصى للخصم اليومي + رصد النشاط غير المعتاد ‎(SAF-05/06)‏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4892040"/>
            <a:ext cx="3474720" cy="14173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0582" y="5029200"/>
            <a:ext cx="82296" cy="11430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50017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53C5B"/>
                </a:solidFill>
                <a:latin typeface="Segoe UI"/>
                <a:cs typeface="Segoe UI"/>
              </a:rPr>
              <a:t>لماذا محفظة داخلية؟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545896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505A63"/>
                </a:solidFill>
                <a:latin typeface="Segoe UI"/>
                <a:cs typeface="Segoe UI"/>
              </a:rPr>
              <a:t>لا بوابات دفع متاحة محلياً ‏—‏ المحفظة تمنح تجربة إلكترونية كاملة اليوم وقابلة للربط ببوابة لاحقاً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10</a:t>
            </a:r>
          </a:p>
        </p:txBody>
      </p:sp>
      <p:pic>
        <p:nvPicPr>
          <p:cNvPr id="22" name="Picture 21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التواصل الفوري ‏—‏ شات وإشعارات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212080" cy="402336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9144" y="1783080"/>
            <a:ext cx="82296" cy="374904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556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الشات الفوري ‎(WebSockets)‏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12848"/>
            <a:ext cx="48006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50" b="0">
                <a:solidFill>
                  <a:srgbClr val="505A63"/>
                </a:solidFill>
                <a:latin typeface="Segoe UI"/>
                <a:cs typeface="Segoe UI"/>
              </a:rPr>
              <a:t>بث لحظي عبر بروتوكول ‎Pusher‏ مع قنوات خاصة لكل محادثة
رسائل نصية وصور، حالة قراءة، وحذف رسائل
إعادة اتصال تلقائية عند عودة الشبكة ومزامنة ما فات
محادثة تُفتح تلقائياً بين الراكب والسائق عند تأكيد الحجز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5212080" cy="402336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9864" y="1783080"/>
            <a:ext cx="82296" cy="3749040"/>
          </a:xfrm>
          <a:prstGeom prst="rect">
            <a:avLst/>
          </a:prstGeom>
          <a:solidFill>
            <a:srgbClr val="5F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الإشعارات (‎FCM‏ + مركز إشعارات)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48006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50" b="0">
                <a:solidFill>
                  <a:srgbClr val="505A63"/>
                </a:solidFill>
                <a:latin typeface="Segoe UI"/>
                <a:cs typeface="Segoe UI"/>
              </a:rPr>
              <a:t>إشعارات ‎Push‏ عبر ‎Firebase‏ حتى والتطبيق مغلق
مركز إشعارات داخلي: تصنيفات، تعليم كمقروء، حذف، عداد ‎Badge‏
تحديث تفاؤلي فوري مع مزامنة خلفية وكاش يعمل بلا اتصال
ربط عميق: الضغط على الإشعار يفتح المحادثة أو الرحلة المعنية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11</a:t>
            </a:r>
          </a:p>
        </p:txBody>
      </p:sp>
      <p:pic>
        <p:nvPicPr>
          <p:cNvPr id="16" name="Picture 15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منظومة الثقة ‏—‏ ‎Trust Score‏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الردع الذاتي قبل العقوبة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رصيد سلوكي لكل مستخدم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يرتفع بإكمال الرحلات ويهبط بالإلغاءات وبلاغات عدم الحضور</a:t>
            </a:r>
          </a:p>
          <a:p>
            <a:pPr algn="r" rtl="1">
              <a:spcAft>
                <a:spcPts val="11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عتبات ملزمة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إنشاء رحلة يتطلب 50 نقطة، والحجز 40 ‏—‏ تُطبق في الخادم وتُعطّل الأزرار في التطبيق استباقياً</a:t>
            </a:r>
          </a:p>
          <a:p>
            <a:pPr algn="r" rtl="1">
              <a:spcAft>
                <a:spcPts val="11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شفافية كاملة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شاشة تعرض النقاط والفئة (برونزي…بلاتيني) وسجل كل تغيير وسببه</a:t>
            </a:r>
          </a:p>
          <a:p>
            <a:pPr algn="r" rtl="1">
              <a:spcAft>
                <a:spcPts val="11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التقييمات والتعليقات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متوسط نجوم علني + تعليقات موثقة من ركاب فعليين فقط</a:t>
            </a:r>
          </a:p>
          <a:p>
            <a:pPr algn="r" rtl="1">
              <a:spcAft>
                <a:spcPts val="1100"/>
              </a:spcAft>
            </a:pPr>
            <a:r>
              <a:rPr sz="12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600" b="1">
                <a:solidFill>
                  <a:srgbClr val="263238"/>
                </a:solidFill>
                <a:latin typeface="Segoe UI"/>
                <a:cs typeface="Segoe UI"/>
              </a:rPr>
              <a:t>التصعيد</a:t>
            </a:r>
            <a:r>
              <a:rPr sz="1450" b="0">
                <a:solidFill>
                  <a:srgbClr val="505A63"/>
                </a:solidFill>
                <a:latin typeface="Segoe UI"/>
                <a:cs typeface="Segoe UI"/>
              </a:rPr>
              <a:t>  ‏—‏  بلاغات متكررة ← تعليق تلقائي أو حظر إداري مؤقت/دائم مع إظهار السبب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لماذا نقاط وليس تقييماً فقط؟  </a:t>
            </a:r>
            <a:r>
              <a:rPr sz="1350" b="0">
                <a:solidFill>
                  <a:srgbClr val="505A63"/>
                </a:solidFill>
                <a:latin typeface="Segoe UI"/>
                <a:cs typeface="Segoe UI"/>
              </a:rPr>
              <a:t>التقييم رأي شخصي قد يُجامل؛ النقاط تُحتسب من سلوك مُقاس (إلغاءات، حضور، إكمال) فلا يمكن تجميلها.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12</a:t>
            </a:r>
          </a:p>
        </p:txBody>
      </p:sp>
      <p:pic>
        <p:nvPicPr>
          <p:cNvPr id="11" name="Picture 10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السلامة والدعم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متطلبات ‎SAF‏ + قناة دعم مباشرة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212080" cy="4114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9144" y="1783080"/>
            <a:ext cx="82296" cy="3840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556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حماية المستخدم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12848"/>
            <a:ext cx="48006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توثيق إلزامي للسائقين قبل أول رحلة ‎(SAF-03)‏
بلاغ «لم يحضر» للطرفين مع أثر مالي ونقاط ثقة
أرقام تواصل تظهر فقط بعد تأكيد الحجز
حظر مؤقت/دائم بواجهة توضح السبب والمدة
خارطة الطريق: زر طوارئ ومشاركة الرحلة ‎(SAF-01/02)‏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5212080" cy="4114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9864" y="1783080"/>
            <a:ext cx="82296" cy="3840480"/>
          </a:xfrm>
          <a:prstGeom prst="rect">
            <a:avLst/>
          </a:prstGeom>
          <a:solidFill>
            <a:srgbClr val="356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556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الدعم والشكاوى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12848"/>
            <a:ext cx="48006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نظام شكاوى بأنواع ومرفقات (حتى 3 ملفات/شكوى)
متابعة حالة الشكوى: مفتوحة ← قيد المعالجة ← محلولة
شات مباشر مع فريق الدعم من داخل التطبيق
إشعار فوري عند رد الإدارة على الشكوى
كاش محلي: قائمة شكاواك متاحة حتى بلا اتصال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13</a:t>
            </a:r>
          </a:p>
        </p:txBody>
      </p:sp>
      <p:pic>
        <p:nvPicPr>
          <p:cNvPr id="17" name="Picture 16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الجودة ‏—‏ اختبارات آلية شاملة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‎NFR-02‏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624328" cy="13716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6243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000" b="1">
                <a:solidFill>
                  <a:srgbClr val="ED8B10"/>
                </a:solidFill>
                <a:latin typeface="Segoe UI"/>
                <a:cs typeface="Segoe UI"/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441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  <a:cs typeface="Segoe UI"/>
              </a:rPr>
              <a:t>اختباراً آلياً ‏—‏ كلها ناجحة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1600200"/>
            <a:ext cx="2624328" cy="13716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1860" y="1691640"/>
            <a:ext cx="26243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000" b="1">
                <a:solidFill>
                  <a:srgbClr val="ED8B10"/>
                </a:solidFill>
                <a:latin typeface="Segoe UI"/>
                <a:cs typeface="Segoe UI"/>
              </a:rPr>
              <a:t>%77.7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2331720"/>
            <a:ext cx="2441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  <a:cs typeface="Segoe UI"/>
              </a:rPr>
              <a:t>تغطية أسطر منطق الأعمال المختبَر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2624328" cy="13716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26243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000" b="1">
                <a:solidFill>
                  <a:srgbClr val="ED8B10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31720"/>
            <a:ext cx="2441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  <a:cs typeface="Segoe UI"/>
              </a:rPr>
              <a:t>ملف اختبار ‏—‏ وحدات وواجهات وتكامل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5420" y="1600200"/>
            <a:ext cx="2624328" cy="13716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5420" y="1691640"/>
            <a:ext cx="26243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000" b="1">
                <a:solidFill>
                  <a:srgbClr val="ED8B10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6860" y="2331720"/>
            <a:ext cx="2441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  <a:cs typeface="Segoe UI"/>
              </a:rPr>
              <a:t>ثانية لتشغيل المجموعة كاملة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05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450" b="1">
                <a:solidFill>
                  <a:srgbClr val="263238"/>
                </a:solidFill>
                <a:latin typeface="Segoe UI"/>
                <a:cs typeface="Segoe UI"/>
              </a:rPr>
              <a:t>‎Unit Tests‏</a:t>
            </a: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  ‏—‏  12 وحدة حالة (مصادقة، حجز، رحلات، محفظة، نقاط، إشعارات) بمحاكاة كاملة للخادم ‏—‏ حالات نجاح وفشل معرّبة</a:t>
            </a:r>
          </a:p>
          <a:p>
            <a:pPr algn="r" rtl="1">
              <a:spcAft>
                <a:spcPts val="800"/>
              </a:spcAft>
            </a:pPr>
            <a:r>
              <a:rPr sz="105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450" b="1">
                <a:solidFill>
                  <a:srgbClr val="263238"/>
                </a:solidFill>
                <a:latin typeface="Segoe UI"/>
                <a:cs typeface="Segoe UI"/>
              </a:rPr>
              <a:t>‎Widget Tests‏</a:t>
            </a: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  ‏—‏  مكونات مشتركة وشاشات كاملة بكيوبت وهمي دون أي شبكة</a:t>
            </a:r>
          </a:p>
          <a:p>
            <a:pPr algn="r" rtl="1">
              <a:spcAft>
                <a:spcPts val="800"/>
              </a:spcAft>
            </a:pPr>
            <a:r>
              <a:rPr sz="105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450" b="1">
                <a:solidFill>
                  <a:srgbClr val="263238"/>
                </a:solidFill>
                <a:latin typeface="Segoe UI"/>
                <a:cs typeface="Segoe UI"/>
              </a:rPr>
              <a:t>‎Integration Test‏</a:t>
            </a: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  ‏—‏  إقلاع التطبيق كاملاً على جهاز حقيقي والتحقق من العربية و‎RTL‏</a:t>
            </a:r>
          </a:p>
          <a:p>
            <a:pPr algn="r" rtl="1">
              <a:spcAft>
                <a:spcPts val="800"/>
              </a:spcAft>
            </a:pPr>
            <a:r>
              <a:rPr sz="105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450" b="1">
                <a:solidFill>
                  <a:srgbClr val="263238"/>
                </a:solidFill>
                <a:latin typeface="Segoe UI"/>
                <a:cs typeface="Segoe UI"/>
              </a:rPr>
              <a:t>اختبارات أمان فعلية</a:t>
            </a: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  ‏—‏  قراءة بايتات القرص لإثبات أن التوكن لم يعد نصاً مكشوفاً</a:t>
            </a:r>
          </a:p>
          <a:p>
            <a:pPr algn="r" rtl="1">
              <a:spcAft>
                <a:spcPts val="800"/>
              </a:spcAft>
            </a:pPr>
            <a:r>
              <a:rPr sz="105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450" b="1">
                <a:solidFill>
                  <a:srgbClr val="263238"/>
                </a:solidFill>
                <a:latin typeface="Segoe UI"/>
                <a:cs typeface="Segoe UI"/>
              </a:rPr>
              <a:t>اختبارات الشبكة</a:t>
            </a: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  ‏—‏  إثبات إعادة محاولة ‎GET‏ وعدم تكرار ‎POST‏ مطلقاً (حماية العمليات المالية)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14</a:t>
            </a:r>
          </a:p>
        </p:txBody>
      </p:sp>
      <p:pic>
        <p:nvPicPr>
          <p:cNvPr id="22" name="Picture 21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الأمان ‏—‏ دفاع متعدد الطبقات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0"/>
                <a:gridCol w="2743200"/>
              </a:tblGrid>
              <a:tr h="613954">
                <a:tc>
                  <a:txBody>
                    <a:bodyPr/>
                    <a:lstStyle/>
                    <a:p>
                      <a:pPr algn="r" rtl="1"/>
                      <a:r>
                        <a:rPr sz="14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الإجراء المطبق</a:t>
                      </a:r>
                    </a:p>
                  </a:txBody>
                  <a:tcPr anchor="ctr">
                    <a:solidFill>
                      <a:srgbClr val="253C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الطبقة</a:t>
                      </a:r>
                    </a:p>
                  </a:txBody>
                  <a:tcPr anchor="ctr">
                    <a:solidFill>
                      <a:srgbClr val="253C5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r" rtl="1"/>
                      <a:r>
                        <a:rPr sz="135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‎HTTPS/TLS‏ لكل الاتصالات مع الخادم ‎(NFR-12/15)‏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5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النقل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r" rtl="1"/>
                      <a:r>
                        <a:rPr sz="135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‎JWT‏ قصير العمر + ‎Refresh Token‏ + إبطال فوري عند الحظر ‎(NFR-10)‏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5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الجلسات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r" rtl="1"/>
                      <a:r>
                        <a:rPr sz="135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‎AES-256‏ لصندوق الجلسة، المفتاح في ‎Keystore/Keychain‏ ‎(NFR-14)‏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5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التخزين على الجهاز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r" rtl="1"/>
                      <a:r>
                        <a:rPr sz="135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تحديد معدل الطلبات 60/دقيقة و ‎OTP‏ بمحاولات محدودة ‎(NFR-11)‏ + ‎CSRF/XSS‏ للوحة الويب ‎(NFR-08/09)‏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5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الخادم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r" rtl="1"/>
                      <a:r>
                        <a:rPr sz="135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‎idempotency key‏ + تأكيد الخادم قبل أي خصم + سقف يومي ‎(SAF-04/05)‏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5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العمليات المالية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r" rtl="1"/>
                      <a:r>
                        <a:rPr sz="1350" b="0">
                          <a:solidFill>
                            <a:srgbClr val="505A63"/>
                          </a:solidFill>
                          <a:latin typeface="Segoe UI"/>
                          <a:cs typeface="Segoe UI"/>
                        </a:rPr>
                        <a:t>رصد النشاط غير المعتاد وتعليق تلقائي + حظر إداري ‎(SAF-06)‏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50" b="1">
                          <a:solidFill>
                            <a:srgbClr val="253C5B"/>
                          </a:solidFill>
                          <a:latin typeface="Segoe UI"/>
                          <a:cs typeface="Segoe UI"/>
                        </a:rPr>
                        <a:t>الحساب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15</a:t>
            </a:r>
          </a:p>
        </p:txBody>
      </p:sp>
      <p:pic>
        <p:nvPicPr>
          <p:cNvPr id="9" name="Picture 8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الموثوقية ‏—‏ التطبيق يعمل على شبكات سيئة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‎NFR-17‏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إعادة محاولة ذكية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أخطاء الشبكة العابرة تُعاد تلقائياً بتراجع تصاعدي ‏—‏ لطلبات القراءة فقط؛ الحجز والدفع لا يُكرران أبداً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مهلات صريحة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15 ثانية اتصال / 25 استلام ‏—‏ لا طلب يعلق للأبد، ورسالة عربية واضحة عند التجاوز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شريط انقطاع عام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يظهر فوق كل الشاشات لحظة فقدان الشبكة ويختفي عند عودتها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كاش «اعرض ثم حدّث»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النقاط والإشعارات والشكاوى تُعرض من الكاش فوراً ثم تتحدث من الشبكة بصمت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تجديد جلسة بطابور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‎QueuedInterceptor‏ يمنع تسابق طلبات متزامنة على تجديد التوكن نفسه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إعادة اتصال الشات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السوكيت يعيد الاتصال تلقائياً ويزامن الرسائل الفائتة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رسائل خطأ معرّبة مركزياً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كل رسائل الخادم تمر بمترجم واحد ‏—‏ لا يرى المستخدم نصاً إنجليزياً أو تقنياً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16</a:t>
            </a:r>
          </a:p>
        </p:txBody>
      </p:sp>
      <p:pic>
        <p:nvPicPr>
          <p:cNvPr id="10" name="Picture 9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تجربة الاستخدام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05A63"/>
                </a:solidFill>
                <a:latin typeface="Segoe UI"/>
                <a:cs typeface="Segoe UI"/>
              </a:rPr>
              <a:t>‎NFR-21‏ / 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74720" cy="1874519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32504" y="1828800"/>
            <a:ext cx="82296" cy="1600199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عربي ‎RTL‏ بالكامل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كل الواجهات والرسائل والتواريخ عربية، بترميز ‎UTF-8‏ واتجاه صحيح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691640"/>
            <a:ext cx="3474720" cy="1874519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81543" y="1828800"/>
            <a:ext cx="82296" cy="1600199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8013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وضع داكن كامل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5856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لوحتا ألوان بهوية واحدة (كحلي/برتقالي) مع تبديل فوري وحفظ التفضيل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1691640"/>
            <a:ext cx="3474720" cy="1874519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30582" y="1828800"/>
            <a:ext cx="82296" cy="1600199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8" y="18013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حالات واضحة دائماً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225856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لكل شاشة ‎Loading‏ / ‎Success‏ / ‎Error‏ / ‎Empty‏ ‏—‏ لا شاشات بيضاء صامتة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40480"/>
            <a:ext cx="3474720" cy="1874519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32504" y="3977640"/>
            <a:ext cx="82296" cy="1600199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502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تكيف مع كل المقاسات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‎ScreenUtil‏ بمقاس تصميم موحد 375×812 على ‎Android‏ و ‎iOS‏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19" y="3840480"/>
            <a:ext cx="3474720" cy="1874519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81543" y="3977640"/>
            <a:ext cx="82296" cy="1600199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39502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تحديث تفاؤلي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40740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الإجراءات تظهر نتيجتها فوراً وتُزامن خلفياً ‏—‏ إحساس بالسرعة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8" y="3840480"/>
            <a:ext cx="3474720" cy="1874519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30582" y="3977640"/>
            <a:ext cx="82296" cy="1600199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8" y="395020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53C5B"/>
                </a:solidFill>
                <a:latin typeface="Segoe UI"/>
                <a:cs typeface="Segoe UI"/>
              </a:rPr>
              <a:t>سحب للتحديث وترقيم صفحات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440740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50" b="0">
                <a:solidFill>
                  <a:srgbClr val="505A63"/>
                </a:solidFill>
                <a:latin typeface="Segoe UI"/>
                <a:cs typeface="Segoe UI"/>
              </a:rPr>
              <a:t>قوائم طويلة بلا انتظار: تحميل تدريجي عند التمرير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17</a:t>
            </a:r>
          </a:p>
        </p:txBody>
      </p:sp>
      <p:pic>
        <p:nvPicPr>
          <p:cNvPr id="33" name="Picture 32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تحديات واجهتنا ‏—‏ وكيف عالجناها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أشكال أخطاء متعددة من الخادم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بنينا كائن فشل موحداً يفهم 3 مغلفات مختلفة + مترجماً مركزياً للعربية ‏—‏ مع اختبارات لكل شكل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تعارض تجديد التوكن المتزامن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‎QueuedInterceptor‏ يصفّف الطلبات أثناء التجديد فلا يُطرد المستخدم بسبب سباق طلبات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تشفير التخزين دون فقدان الجلسات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ترحيل تلقائي لمرة واحدة من الصندوق المكشوف إلى المشفر ‏—‏ صفر خروج إجباري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منع ازدواج العمليات المالية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مفتاح ‎idempotency‏ لكل حجز + سياسة «لا إعادة تلقائية لأي طلب كتابة»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الشات الفوري على شبكة متقلبة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إعادة اتصال ذاتية + مزامنة الرسائل الفائتة + إرسال عبر ‎REST‏ والاستقبال عبر السوكيت</a:t>
            </a:r>
          </a:p>
          <a:p>
            <a:pPr algn="r" rtl="1">
              <a:spcAft>
                <a:spcPts val="1000"/>
              </a:spcAft>
            </a:pPr>
            <a:r>
              <a:rPr sz="1300" b="1">
                <a:solidFill>
                  <a:srgbClr val="ED8B10"/>
                </a:solidFill>
                <a:latin typeface="Segoe UI"/>
                <a:cs typeface="Segoe UI"/>
              </a:rPr>
              <a:t>●  </a:t>
            </a:r>
            <a:r>
              <a:rPr sz="1700" b="1">
                <a:solidFill>
                  <a:srgbClr val="263238"/>
                </a:solidFill>
                <a:latin typeface="Segoe UI"/>
                <a:cs typeface="Segoe UI"/>
              </a:rPr>
              <a:t>عدالة الإلغاء</a:t>
            </a:r>
            <a:r>
              <a:rPr sz="1550" b="0">
                <a:solidFill>
                  <a:srgbClr val="505A63"/>
                </a:solidFill>
                <a:latin typeface="Segoe UI"/>
                <a:cs typeface="Segoe UI"/>
              </a:rPr>
              <a:t>  ‏—‏  سياسة استرداد متدرجة زمنياً بدل قرار ثنائي ‏—‏ درسناها كقاعدة عمل قبل برمجتها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18</a:t>
            </a:r>
          </a:p>
        </p:txBody>
      </p:sp>
      <p:pic>
        <p:nvPicPr>
          <p:cNvPr id="9" name="Picture 8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253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253C5B"/>
                </a:solidFill>
                <a:latin typeface="Segoe UI"/>
                <a:cs typeface="Segoe UI"/>
              </a:rPr>
              <a:t>خارطة الطريق ‏—‏ ما بعد المناقشة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082735" y="1024128"/>
            <a:ext cx="2468880" cy="4445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212080" cy="402336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9144" y="1783080"/>
            <a:ext cx="82296" cy="374904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556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قصير المدى (جاهز للتنفيذ)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12848"/>
            <a:ext cx="48006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خط ‎CI/CD‏ على ‎GitHub Actions‏: تحليل + اختبارات لكل تعديل
مراقبة أعطال إنتاجية عبر ‎Sentry‏ بسياق المستخدم
زر الطوارئ ومشاركة الرحلة مع جهة اتصال ‎(SAF-01/02)‏
قياسات أداء موثقة: إقلاع ≤ 3 ثوانٍ و 60 إطاراً/ثانية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5212080" cy="402336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9864" y="1783080"/>
            <a:ext cx="82296" cy="3749040"/>
          </a:xfrm>
          <a:prstGeom prst="rect">
            <a:avLst/>
          </a:prstGeom>
          <a:solidFill>
            <a:srgbClr val="5F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253C5B"/>
                </a:solidFill>
                <a:latin typeface="Segoe UI"/>
                <a:cs typeface="Segoe UI"/>
              </a:rPr>
              <a:t>متوسط المدى (رؤية النمو)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48006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505A63"/>
                </a:solidFill>
                <a:latin typeface="Segoe UI"/>
                <a:cs typeface="Segoe UI"/>
              </a:rPr>
              <a:t>تتبع مباشر للرحلة على الخريطة أثناء تنفيذها
ربط بوابة دفع إلكترونية عند توفرها محلياً
نشر ‎iOS‏ على ‎App Store‏ + دعم إمكانية الوصول
رحلات دورية (يومية للموظفين والطلاب) وتسعير ديناميكي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473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100" b="0">
                <a:solidFill>
                  <a:srgbClr val="505A63"/>
                </a:solidFill>
                <a:latin typeface="Segoe UI"/>
                <a:cs typeface="Segoe UI"/>
              </a:rPr>
              <a:t>19</a:t>
            </a:r>
          </a:p>
        </p:txBody>
      </p:sp>
      <p:pic>
        <p:nvPicPr>
          <p:cNvPr id="16" name="Picture 15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638251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D8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27167" y="91440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50" y="1122883"/>
            <a:ext cx="1320394" cy="1320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283464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  <a:cs typeface="Segoe UI"/>
              </a:rPr>
              <a:t>شكراً لحسن استماعكم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60"/>
            <a:ext cx="9445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ED8B10"/>
                </a:solidFill>
                <a:latin typeface="Segoe UI"/>
                <a:cs typeface="Segoe UI"/>
              </a:rPr>
              <a:t>عطريقك ‏—‏ لأن الطريق أوفر حين نتشاركه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445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600" b="0">
                <a:solidFill>
                  <a:srgbClr val="5FBBC8"/>
                </a:solidFill>
                <a:latin typeface="Segoe UI"/>
                <a:cs typeface="Segoe UI"/>
              </a:rPr>
              <a:t>أسئلتكم موضع ترحيب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